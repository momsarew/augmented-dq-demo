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087600" cy="106984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087600" cy="10698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37E"/>
                </a:solidFill>
              </a:defRPr>
            </a:pPr>
            <a:r>
              <a:t>🎯 Framework Data Quality Probabiliste - Architecture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v1.2.0 | TOGAF/C4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2286000" cy="2743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👥 ACTEURS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1005840" cy="54864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👤</a:t>
            </a:r>
            <a:br/>
            <a:r>
              <a:t>Analyst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097280"/>
            <a:ext cx="1005840" cy="54864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🔒</a:t>
            </a:r>
            <a:br/>
            <a:r>
              <a:t>DPO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737360"/>
            <a:ext cx="1005840" cy="54864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💼</a:t>
            </a:r>
            <a:br/>
            <a:r>
              <a:t>DSI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737360"/>
            <a:ext cx="1005840" cy="54864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📊</a:t>
            </a:r>
            <a:br/>
            <a:r>
              <a:t>Métier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68880"/>
            <a:ext cx="2286000" cy="27432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📥 ENTRÉES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834640"/>
            <a:ext cx="1005840" cy="457200"/>
          </a:xfrm>
          <a:prstGeom prst="roundRect">
            <a:avLst/>
          </a:prstGeom>
          <a:solidFill>
            <a:srgbClr val="FBBC04"/>
          </a:solidFill>
          <a:ln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📄 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834640"/>
            <a:ext cx="1005840" cy="457200"/>
          </a:xfrm>
          <a:prstGeom prst="roundRect">
            <a:avLst/>
          </a:prstGeom>
          <a:solidFill>
            <a:srgbClr val="FBBC04"/>
          </a:solidFill>
          <a:ln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📊 Excel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51760" y="1371600"/>
            <a:ext cx="274320" cy="192024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2651760" y="2926080"/>
            <a:ext cx="274320" cy="192024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0" y="731520"/>
            <a:ext cx="8686800" cy="6583680"/>
          </a:xfrm>
          <a:prstGeom prst="rect">
            <a:avLst/>
          </a:prstGeom>
          <a:solidFill>
            <a:srgbClr val="FAFAFF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777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237E"/>
                </a:solidFill>
              </a:defRPr>
            </a:pPr>
            <a:r>
              <a:t>⚙️ FRAMEWORK DQ PROBABILISTE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143000"/>
            <a:ext cx="8321040" cy="1005840"/>
          </a:xfrm>
          <a:prstGeom prst="rect">
            <a:avLst/>
          </a:prstGeom>
          <a:solidFill>
            <a:srgbClr val="DCEBFF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1143000"/>
            <a:ext cx="457200" cy="10058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UI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1234440"/>
            <a:ext cx="640080" cy="82296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🔍</a:t>
            </a:r>
            <a:br/>
            <a:r>
              <a:t>Scan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1234440"/>
            <a:ext cx="640080" cy="82296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📊</a:t>
            </a:r>
            <a:br/>
            <a:r>
              <a:t>Dashboard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1234440"/>
            <a:ext cx="640080" cy="82296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🎯</a:t>
            </a:r>
            <a:br/>
            <a:r>
              <a:t>Vecteurs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1234440"/>
            <a:ext cx="640080" cy="82296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⚠️</a:t>
            </a:r>
            <a:br/>
            <a:r>
              <a:t>Priorités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1234440"/>
            <a:ext cx="640080" cy="82296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🎚️</a:t>
            </a:r>
            <a:br/>
            <a:r>
              <a:t>Élicitation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1234440"/>
            <a:ext cx="640080" cy="82296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🎭</a:t>
            </a:r>
            <a:br/>
            <a:r>
              <a:t>Profil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1234440"/>
            <a:ext cx="640080" cy="82296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🔄</a:t>
            </a:r>
            <a:br/>
            <a:r>
              <a:t>Lineage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1234440"/>
            <a:ext cx="640080" cy="82296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📈</a:t>
            </a:r>
            <a:br/>
            <a:r>
              <a:t>DAMA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1234440"/>
            <a:ext cx="640080" cy="82296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📋</a:t>
            </a:r>
            <a:br/>
            <a:r>
              <a:t>Reporting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21240" y="1234440"/>
            <a:ext cx="640080" cy="82296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📜</a:t>
            </a:r>
            <a:br/>
            <a:r>
              <a:t>Historique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07040" y="1234440"/>
            <a:ext cx="640080" cy="82296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⚙️</a:t>
            </a:r>
            <a:br/>
            <a:r>
              <a:t>Params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7315200" y="2194560"/>
            <a:ext cx="160020" cy="228600"/>
          </a:xfrm>
          <a:prstGeom prst="down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2468880"/>
            <a:ext cx="8321040" cy="1280160"/>
          </a:xfrm>
          <a:prstGeom prst="rect">
            <a:avLst/>
          </a:prstGeom>
          <a:solidFill>
            <a:srgbClr val="DCF5E1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2468880"/>
            <a:ext cx="457200" cy="1280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BIZ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49039" y="2606040"/>
            <a:ext cx="1371600" cy="100584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analyzer.py</a:t>
            </a:r>
            <a:br/>
            <a:r>
              <a:t>─────────</a:t>
            </a:r>
            <a:br/>
            <a:r>
              <a:t>Profiling</a:t>
            </a:r>
            <a:br/>
            <a:r>
              <a:t>Statistiques</a:t>
            </a:r>
            <a:br/>
            <a:r>
              <a:t>Types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2606040"/>
            <a:ext cx="1371600" cy="100584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beta_calculator</a:t>
            </a:r>
            <a:br/>
            <a:r>
              <a:t>─────────</a:t>
            </a:r>
            <a:br/>
            <a:r>
              <a:t>Vecteurs 4D</a:t>
            </a:r>
            <a:br/>
            <a:r>
              <a:t>P_DB P_DP</a:t>
            </a:r>
            <a:br/>
            <a:r>
              <a:t>P_BR P_UP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2606040"/>
            <a:ext cx="1371600" cy="100584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ahp_elicitor</a:t>
            </a:r>
            <a:br/>
            <a:r>
              <a:t>─────────</a:t>
            </a:r>
            <a:br/>
            <a:r>
              <a:t>Pondération</a:t>
            </a:r>
            <a:br/>
            <a:r>
              <a:t>AHP</a:t>
            </a:r>
            <a:br/>
            <a:r>
              <a:t>Presets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2606040"/>
            <a:ext cx="1371600" cy="100584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risk_scorer</a:t>
            </a:r>
            <a:br/>
            <a:r>
              <a:t>─────────</a:t>
            </a:r>
            <a:br/>
            <a:r>
              <a:t>Scoring</a:t>
            </a:r>
            <a:br/>
            <a:r>
              <a:t>Priorisation</a:t>
            </a:r>
            <a:br/>
            <a:r>
              <a:t>Seuils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2606040"/>
            <a:ext cx="1371600" cy="100584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comparator</a:t>
            </a:r>
            <a:br/>
            <a:r>
              <a:t>─────────</a:t>
            </a:r>
            <a:br/>
            <a:r>
              <a:t>DAMA vs 4D</a:t>
            </a:r>
            <a:br/>
            <a:r>
              <a:t>Mapping</a:t>
            </a:r>
            <a:br/>
            <a:r>
              <a:t>Benchmark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7315200" y="3794760"/>
            <a:ext cx="160020" cy="228600"/>
          </a:xfrm>
          <a:prstGeom prst="down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0" y="4069080"/>
            <a:ext cx="8321040" cy="1097280"/>
          </a:xfrm>
          <a:prstGeom prst="rect">
            <a:avLst/>
          </a:prstGeom>
          <a:solidFill>
            <a:srgbClr val="F0E6FA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0" y="4069080"/>
            <a:ext cx="4572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49039" y="4206240"/>
            <a:ext cx="2011680" cy="82296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Anomaly Catalog</a:t>
            </a:r>
            <a:br/>
            <a:r>
              <a:t>─────────────</a:t>
            </a:r>
            <a:br/>
            <a:r>
              <a:t>60+ règles</a:t>
            </a:r>
            <a:br/>
            <a:r>
              <a:t>Core + Extended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52160" y="4206240"/>
            <a:ext cx="2011680" cy="82296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Session State</a:t>
            </a:r>
            <a:br/>
            <a:r>
              <a:t>─────────────</a:t>
            </a:r>
            <a:br/>
            <a:r>
              <a:t>DataFrame</a:t>
            </a:r>
            <a:br/>
            <a:r>
              <a:t>Résultats cache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5279" y="4206240"/>
            <a:ext cx="2011680" cy="82296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Audit Trail</a:t>
            </a:r>
            <a:br/>
            <a:r>
              <a:t>─────────────</a:t>
            </a:r>
            <a:br/>
            <a:r>
              <a:t>JSON persistant</a:t>
            </a:r>
            <a:br/>
            <a:r>
              <a:t>Traçabilité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58400" y="4206240"/>
            <a:ext cx="1280160" cy="82296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Secrets</a:t>
            </a:r>
            <a:br/>
            <a:r>
              <a:t>────────</a:t>
            </a:r>
            <a:br/>
            <a:r>
              <a:t>API Keys</a:t>
            </a:r>
            <a:br/>
            <a:r>
              <a:t>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5349240"/>
            <a:ext cx="8321040" cy="914400"/>
          </a:xfrm>
          <a:prstGeom prst="rect">
            <a:avLst/>
          </a:prstGeom>
          <a:solidFill>
            <a:srgbClr val="FFEBEB"/>
          </a:solidFill>
          <a:ln w="254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0" y="5349240"/>
            <a:ext cx="457200" cy="914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SEC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49039" y="5440680"/>
            <a:ext cx="1645920" cy="731520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🔒 security.py</a:t>
            </a:r>
            <a:br/>
            <a:r>
              <a:t>Validation</a:t>
            </a:r>
            <a:br/>
            <a:r>
              <a:t>Sanitization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0" y="5440680"/>
            <a:ext cx="1645920" cy="731520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🛡️ XSS Protect</a:t>
            </a:r>
            <a:br/>
            <a:r>
              <a:t>escape_html()</a:t>
            </a:r>
            <a:br/>
            <a:r>
              <a:t>Patterns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23760" y="5440680"/>
            <a:ext cx="1645920" cy="731520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📁 File Valid</a:t>
            </a:r>
            <a:br/>
            <a:r>
              <a:t>MIME | Size</a:t>
            </a:r>
            <a:br/>
            <a:r>
              <a:t>Hash SHA-256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1120" y="5440680"/>
            <a:ext cx="1371600" cy="731520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🔑 Admin</a:t>
            </a:r>
            <a:br/>
            <a:r>
              <a:t>Auth</a:t>
            </a:r>
            <a:br/>
            <a:r>
              <a:t>Password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424160" y="5440680"/>
            <a:ext cx="914400" cy="731520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📜</a:t>
            </a:r>
            <a:br/>
            <a:r>
              <a:t>Audit</a:t>
            </a:r>
            <a:br/>
            <a:r>
              <a:t>Log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0" y="6446520"/>
            <a:ext cx="5029200" cy="777240"/>
          </a:xfrm>
          <a:prstGeom prst="rect">
            <a:avLst/>
          </a:prstGeom>
          <a:solidFill>
            <a:srgbClr val="F5FAFF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91840" y="64922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237E"/>
                </a:solidFill>
              </a:defRPr>
            </a:pPr>
            <a:r>
              <a:t>🎯 MODÈLE 4D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91840" y="6720840"/>
            <a:ext cx="1097280" cy="41148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P_DB</a:t>
            </a:r>
            <a:br/>
            <a:r>
              <a:t>Structure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34840" y="6720840"/>
            <a:ext cx="1097280" cy="411480"/>
          </a:xfrm>
          <a:prstGeom prst="roundRect">
            <a:avLst/>
          </a:prstGeom>
          <a:solidFill>
            <a:srgbClr val="FBBC04"/>
          </a:solidFill>
          <a:ln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000000"/>
                </a:solidFill>
              </a:defRPr>
            </a:pPr>
            <a:r>
              <a:t>P_DP</a:t>
            </a:r>
            <a:br/>
            <a:r>
              <a:t>Process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577840" y="6720840"/>
            <a:ext cx="1097280" cy="41148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P_BR</a:t>
            </a:r>
            <a:br/>
            <a:r>
              <a:t>Règles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720840" y="6720840"/>
            <a:ext cx="1097280" cy="41148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P_UP</a:t>
            </a:r>
            <a:br/>
            <a:r>
              <a:t>Usage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65379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A237E"/>
                </a:solidFill>
              </a:defRPr>
            </a:pPr>
            <a:r>
              <a:t>Score = Σ(wᵢ×Pᵢ) × mult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887200" y="731520"/>
            <a:ext cx="2926080" cy="274320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☁️ SERVICES EXTERNES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887200" y="1097280"/>
            <a:ext cx="2926080" cy="10058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🤖 ANTHROPIC</a:t>
            </a:r>
            <a:br/>
            <a:r>
              <a:t>─────────────</a:t>
            </a:r>
            <a:br/>
            <a:r>
              <a:t>Claude API</a:t>
            </a:r>
            <a:br/>
            <a:r>
              <a:t>Sonnet 4</a:t>
            </a:r>
            <a:br/>
            <a:r>
              <a:t>Rapports IA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887200" y="2286000"/>
            <a:ext cx="2926080" cy="1005840"/>
          </a:xfrm>
          <a:prstGeom prst="roundRect">
            <a:avLst/>
          </a:prstGeom>
          <a:solidFill>
            <a:srgbClr val="5F6368"/>
          </a:solidFill>
          <a:ln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☁️ STREAMLIT CLOUD</a:t>
            </a:r>
            <a:br/>
            <a:r>
              <a:t>─────────────</a:t>
            </a:r>
            <a:br/>
            <a:r>
              <a:t>Hébergement</a:t>
            </a:r>
            <a:br/>
            <a:r>
              <a:t>SSL/HTTPS</a:t>
            </a:r>
            <a:br/>
            <a:r>
              <a:t>Secrets Manager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887200" y="3474720"/>
            <a:ext cx="2926080" cy="1005840"/>
          </a:xfrm>
          <a:prstGeom prst="roundRect">
            <a:avLst/>
          </a:prstGeom>
          <a:solidFill>
            <a:srgbClr val="464650"/>
          </a:solidFill>
          <a:ln>
            <a:solidFill>
              <a:srgbClr val="46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📦 GITHUB</a:t>
            </a:r>
            <a:br/>
            <a:r>
              <a:t>─────────────</a:t>
            </a:r>
            <a:br/>
            <a:r>
              <a:t>Code source</a:t>
            </a:r>
            <a:br/>
            <a:r>
              <a:t>CI/CD</a:t>
            </a:r>
            <a:br/>
            <a:r>
              <a:t>Versioning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11567160" y="1463040"/>
            <a:ext cx="274320" cy="192024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ight Arrow 63"/>
          <p:cNvSpPr/>
          <p:nvPr/>
        </p:nvSpPr>
        <p:spPr>
          <a:xfrm>
            <a:off x="11567160" y="2651760"/>
            <a:ext cx="274320" cy="192024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ight Arrow 64"/>
          <p:cNvSpPr/>
          <p:nvPr/>
        </p:nvSpPr>
        <p:spPr>
          <a:xfrm>
            <a:off x="11567160" y="3840480"/>
            <a:ext cx="274320" cy="192024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74320" y="3657600"/>
            <a:ext cx="2286000" cy="2743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📤 SORTIES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74320" y="4023360"/>
            <a:ext cx="1005840" cy="45720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📊 Excel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371600" y="4023360"/>
            <a:ext cx="1005840" cy="45720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📝 MD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74320" y="4572000"/>
            <a:ext cx="1005840" cy="45720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📄 PDF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371600" y="4572000"/>
            <a:ext cx="1005840" cy="45720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📋 JSON</a:t>
            </a:r>
          </a:p>
        </p:txBody>
      </p:sp>
      <p:sp>
        <p:nvSpPr>
          <p:cNvPr id="71" name="Left Arrow 70"/>
          <p:cNvSpPr/>
          <p:nvPr/>
        </p:nvSpPr>
        <p:spPr>
          <a:xfrm>
            <a:off x="2651760" y="4206240"/>
            <a:ext cx="274320" cy="192024"/>
          </a:xfrm>
          <a:prstGeom prst="lef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74320" y="7498079"/>
            <a:ext cx="14538960" cy="1645920"/>
          </a:xfrm>
          <a:prstGeom prst="rect">
            <a:avLst/>
          </a:prstGeom>
          <a:solidFill>
            <a:srgbClr val="FCFCFF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7589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A237E"/>
                </a:solidFill>
              </a:defRPr>
            </a:pPr>
            <a:r>
              <a:t>🔄 FLUX DE DONNÉES (Pipeline)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7955279"/>
            <a:ext cx="1371600" cy="1005840"/>
          </a:xfrm>
          <a:prstGeom prst="roundRect">
            <a:avLst/>
          </a:prstGeom>
          <a:solidFill>
            <a:srgbClr val="FBBC04"/>
          </a:solidFill>
          <a:ln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00000"/>
                </a:solidFill>
              </a:defRPr>
            </a:pPr>
            <a:r>
              <a:t>1️⃣</a:t>
            </a:r>
            <a:br/>
            <a:r>
              <a:t>INPUT</a:t>
            </a:r>
            <a:br/>
            <a:r>
              <a:t>CSV/Excel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1874519" y="8366760"/>
            <a:ext cx="228600" cy="16002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2011680" y="7955279"/>
            <a:ext cx="1371600" cy="1005840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2️⃣</a:t>
            </a:r>
            <a:br/>
            <a:r>
              <a:t>VALIDATION</a:t>
            </a:r>
            <a:br/>
            <a:r>
              <a:t>Sécurité</a:t>
            </a:r>
          </a:p>
        </p:txBody>
      </p:sp>
      <p:sp>
        <p:nvSpPr>
          <p:cNvPr id="77" name="Right Arrow 76"/>
          <p:cNvSpPr/>
          <p:nvPr/>
        </p:nvSpPr>
        <p:spPr>
          <a:xfrm>
            <a:off x="3429000" y="8366760"/>
            <a:ext cx="228600" cy="16002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3566160" y="7955279"/>
            <a:ext cx="1371600" cy="100584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3️⃣</a:t>
            </a:r>
            <a:br/>
            <a:r>
              <a:t>ANALYSE</a:t>
            </a:r>
            <a:br/>
            <a:r>
              <a:t>Stats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4983480" y="8366760"/>
            <a:ext cx="228600" cy="16002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120640" y="7955279"/>
            <a:ext cx="1371600" cy="1005840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4️⃣</a:t>
            </a:r>
            <a:br/>
            <a:r>
              <a:t>DÉTECTION</a:t>
            </a:r>
            <a:br/>
            <a:r>
              <a:t>Anomalies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6537959" y="8366760"/>
            <a:ext cx="228600" cy="16002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675120" y="7955279"/>
            <a:ext cx="1371600" cy="100584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5️⃣</a:t>
            </a:r>
            <a:br/>
            <a:r>
              <a:t>VECTEURS</a:t>
            </a:r>
            <a:br/>
            <a:r>
              <a:t>4D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8092440" y="8366760"/>
            <a:ext cx="228600" cy="16002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229600" y="7955279"/>
            <a:ext cx="1371600" cy="100584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6️⃣</a:t>
            </a:r>
            <a:br/>
            <a:r>
              <a:t>PONDÉRATION</a:t>
            </a:r>
            <a:br/>
            <a:r>
              <a:t>AHP</a:t>
            </a:r>
          </a:p>
        </p:txBody>
      </p:sp>
      <p:sp>
        <p:nvSpPr>
          <p:cNvPr id="85" name="Right Arrow 84"/>
          <p:cNvSpPr/>
          <p:nvPr/>
        </p:nvSpPr>
        <p:spPr>
          <a:xfrm>
            <a:off x="9646920" y="8366760"/>
            <a:ext cx="228600" cy="16002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9784080" y="7955279"/>
            <a:ext cx="1371600" cy="100584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7️⃣</a:t>
            </a:r>
            <a:br/>
            <a:r>
              <a:t>SCORING</a:t>
            </a:r>
            <a:br/>
            <a:r>
              <a:t>Risques</a:t>
            </a:r>
          </a:p>
        </p:txBody>
      </p:sp>
      <p:sp>
        <p:nvSpPr>
          <p:cNvPr id="87" name="Right Arrow 86"/>
          <p:cNvSpPr/>
          <p:nvPr/>
        </p:nvSpPr>
        <p:spPr>
          <a:xfrm>
            <a:off x="11201400" y="8366760"/>
            <a:ext cx="228600" cy="16002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1338560" y="7955279"/>
            <a:ext cx="1371600" cy="100584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8️⃣</a:t>
            </a:r>
            <a:br/>
            <a:r>
              <a:t>IA</a:t>
            </a:r>
            <a:br/>
            <a:r>
              <a:t>Rapports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12755880" y="8366760"/>
            <a:ext cx="228600" cy="16002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2893040" y="7955279"/>
            <a:ext cx="1371600" cy="100584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9️⃣</a:t>
            </a:r>
            <a:br/>
            <a:r>
              <a:t>EXPORT</a:t>
            </a:r>
            <a:br/>
            <a:r>
              <a:t>Sorties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1887200" y="4754880"/>
            <a:ext cx="2926080" cy="2468880"/>
          </a:xfrm>
          <a:prstGeom prst="rect">
            <a:avLst/>
          </a:prstGeom>
          <a:solidFill>
            <a:srgbClr val="FAFAFA"/>
          </a:solidFill>
          <a:ln w="2540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978640" y="4846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A237E"/>
                </a:solidFill>
              </a:defRPr>
            </a:pPr>
            <a:r>
              <a:t>📖 LÉGENDE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2070080" y="5166360"/>
            <a:ext cx="2286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344400" y="51663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000000"/>
                </a:solidFill>
              </a:defRPr>
            </a:pPr>
            <a:r>
              <a:t>Couche Présentation (UI)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2070080" y="5458968"/>
            <a:ext cx="228600" cy="2286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2344400" y="545896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000000"/>
                </a:solidFill>
              </a:defRPr>
            </a:pPr>
            <a:r>
              <a:t>Couche Métier (Business)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2070080" y="5751576"/>
            <a:ext cx="228600" cy="2286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2344400" y="575157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000000"/>
                </a:solidFill>
              </a:defRPr>
            </a:pPr>
            <a:r>
              <a:t>Couche Données (Data)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2070080" y="6044184"/>
            <a:ext cx="228600" cy="2286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2344400" y="604418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000000"/>
                </a:solidFill>
              </a:defRPr>
            </a:pPr>
            <a:r>
              <a:t>Couche Sécurité (Transverse)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2070080" y="6336792"/>
            <a:ext cx="228600" cy="2286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2344400" y="633679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000000"/>
                </a:solidFill>
              </a:defRPr>
            </a:pPr>
            <a:r>
              <a:t>Entrées/Données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2070080" y="6629400"/>
            <a:ext cx="228600" cy="228600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2344400" y="66294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000000"/>
                </a:solidFill>
              </a:defRPr>
            </a:pPr>
            <a:r>
              <a:t>Infrastructure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2070080" y="6922008"/>
            <a:ext cx="228600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2344400" y="692200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000000"/>
                </a:solidFill>
              </a:defRPr>
            </a:pPr>
            <a:r>
              <a:t>Services IA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887200" y="96012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F6368"/>
                </a:solidFill>
              </a:defRPr>
            </a:pPr>
            <a:r>
              <a:t>Standards: TOGAF / C4 Model / Clean Architecture</a:t>
            </a:r>
          </a:p>
          <a:p>
            <a:pPr>
              <a:defRPr sz="700">
                <a:solidFill>
                  <a:srgbClr val="5F6368"/>
                </a:solidFill>
              </a:defRPr>
            </a:pPr>
            <a:r>
              <a:t>github.com/momsarew/augmented-dq-demo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