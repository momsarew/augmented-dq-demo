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237E"/>
                </a:solidFill>
              </a:defRPr>
            </a:pPr>
            <a:r>
              <a:t>Framework Data Quality Probabiliste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285F4"/>
                </a:solidFill>
              </a:defRPr>
            </a:pPr>
            <a:r>
              <a:t>Architecture Technique - Style TOGAF/ArchiMate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368"/>
                </a:solidFill>
              </a:defRPr>
            </a:pPr>
            <a:r>
              <a:t>Version 1.2.0 | Février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Vue Contexte Système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C4 Model - Level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8288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👤</a:t>
            </a:r>
            <a:br/>
            <a:r>
              <a:t>Data Analyst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8288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👥</a:t>
            </a:r>
            <a:br/>
            <a:r>
              <a:t>DPO / DSI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18288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👔</a:t>
            </a:r>
            <a:br/>
            <a:r>
              <a:t>Direction Métier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286000"/>
            <a:ext cx="3657600" cy="2286000"/>
          </a:xfrm>
          <a:prstGeom prst="roundRect">
            <a:avLst/>
          </a:prstGeom>
          <a:solidFill>
            <a:srgbClr val="34A853"/>
          </a:solidFill>
          <a:ln w="25400">
            <a:solidFill>
              <a:srgbClr val="1E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Framework DQ</a:t>
            </a:r>
            <a:br/>
            <a:r>
              <a:t>Probabiliste</a:t>
            </a:r>
            <a:br/>
            <a:br/>
            <a:r>
              <a:t>🎯 Analyse qualité</a:t>
            </a:r>
            <a:br/>
            <a:r>
              <a:t>📊 Vecteurs 4D</a:t>
            </a:r>
            <a:br/>
            <a:r>
              <a:t>📋 Rapports 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0"/>
            <a:ext cx="2286000" cy="9144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🤖</a:t>
            </a:r>
            <a:br/>
            <a:r>
              <a:t>Claude API</a:t>
            </a:r>
            <a:br/>
            <a:r>
              <a:t>(Anthropic)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743200"/>
            <a:ext cx="2286000" cy="914400"/>
          </a:xfrm>
          <a:prstGeom prst="round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☁️</a:t>
            </a:r>
            <a:br/>
            <a:r>
              <a:t>Streamlit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114800"/>
            <a:ext cx="2286000" cy="914400"/>
          </a:xfrm>
          <a:prstGeom prst="round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📦</a:t>
            </a:r>
            <a:br/>
            <a:r>
              <a:t>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303520"/>
            <a:ext cx="1645920" cy="82296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📄</a:t>
            </a:r>
            <a:br/>
            <a:r>
              <a:t>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303520"/>
            <a:ext cx="1645920" cy="82296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📊</a:t>
            </a:r>
            <a:br/>
            <a:r>
              <a:t>Excel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1828800"/>
            <a:ext cx="1828800" cy="9144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3017520"/>
            <a:ext cx="1828800" cy="18288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286000" y="3657600"/>
            <a:ext cx="1828800" cy="5486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72400" y="1828800"/>
            <a:ext cx="1371600" cy="9144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3200400"/>
            <a:ext cx="137160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3657600"/>
            <a:ext cx="1371600" cy="9144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37760" y="4572000"/>
            <a:ext cx="0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949440" y="4572000"/>
            <a:ext cx="0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7200" y="5303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Acteurs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77840"/>
            <a:ext cx="18288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577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Système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52159"/>
            <a:ext cx="182880" cy="182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85215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Service 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126479"/>
            <a:ext cx="182880" cy="18288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12647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Infrastructure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799"/>
            <a:ext cx="18288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40079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Données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Architecture en Couches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TOGAF - Vue Applicative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0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00" cy="1188720"/>
          </a:xfrm>
          <a:prstGeom prst="rect">
            <a:avLst/>
          </a:prstGeom>
          <a:solidFill>
            <a:srgbClr val="82B1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234440"/>
            <a:ext cx="13716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🔍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234440"/>
            <a:ext cx="13716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234440"/>
            <a:ext cx="13716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🎯 Vecteurs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234440"/>
            <a:ext cx="13716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⚠️ Priorités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234440"/>
            <a:ext cx="13716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📈 DAMA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13716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📋 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234440"/>
            <a:ext cx="137160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📜 Historique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68880"/>
            <a:ext cx="365760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68880"/>
            <a:ext cx="10972800" cy="1371600"/>
          </a:xfrm>
          <a:prstGeom prst="rect">
            <a:avLst/>
          </a:prstGeom>
          <a:solidFill>
            <a:srgbClr val="81C995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651760"/>
            <a:ext cx="201168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analyzer.py</a:t>
            </a:r>
            <a:br/>
            <a:r>
              <a:t>─────────</a:t>
            </a:r>
            <a:br/>
            <a:r>
              <a:t>Profiling</a:t>
            </a:r>
            <a:br/>
            <a:r>
              <a:t>Statistiques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651760"/>
            <a:ext cx="201168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beta_calculator.py</a:t>
            </a:r>
            <a:br/>
            <a:r>
              <a:t>─────────</a:t>
            </a:r>
            <a:br/>
            <a:r>
              <a:t>Vecteurs 4D</a:t>
            </a:r>
            <a:br/>
            <a:r>
              <a:t>P_DB, P_DP, P_BR, P_UP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651760"/>
            <a:ext cx="201168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risk_scorer.py</a:t>
            </a:r>
            <a:br/>
            <a:r>
              <a:t>─────────</a:t>
            </a:r>
            <a:br/>
            <a:r>
              <a:t>Scoring</a:t>
            </a:r>
            <a:br/>
            <a:r>
              <a:t>Priorisation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651760"/>
            <a:ext cx="201168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ahp_elicitor.py</a:t>
            </a:r>
            <a:br/>
            <a:r>
              <a:t>─────────</a:t>
            </a:r>
            <a:br/>
            <a:r>
              <a:t>Pondération</a:t>
            </a:r>
            <a:br/>
            <a:r>
              <a:t>AHP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651760"/>
            <a:ext cx="201168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comparator.py</a:t>
            </a:r>
            <a:br/>
            <a:r>
              <a:t>─────────</a:t>
            </a:r>
            <a:br/>
            <a:r>
              <a:t>DAMA vs 4D</a:t>
            </a:r>
            <a:br/>
            <a:r>
              <a:t>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36576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10972800" cy="1188720"/>
          </a:xfrm>
          <a:prstGeom prst="rect">
            <a:avLst/>
          </a:prstGeom>
          <a:solidFill>
            <a:srgbClr val="BB8FCE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160520"/>
            <a:ext cx="2743200" cy="9144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Anomaly Catalog</a:t>
            </a:r>
            <a:br/>
            <a:r>
              <a:t>─────────</a:t>
            </a:r>
            <a:br/>
            <a:r>
              <a:t>60+ règles détection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160520"/>
            <a:ext cx="2743200" cy="9144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Session State</a:t>
            </a:r>
            <a:br/>
            <a:r>
              <a:t>─────────</a:t>
            </a:r>
            <a:br/>
            <a:r>
              <a:t>DataFrame, Résultats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160520"/>
            <a:ext cx="2743200" cy="9144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Audit Trail</a:t>
            </a:r>
            <a:br/>
            <a:r>
              <a:t>─────────</a:t>
            </a:r>
            <a:br/>
            <a:r>
              <a:t>JSON persistant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4160520"/>
            <a:ext cx="2011680" cy="9144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Secrets</a:t>
            </a:r>
            <a:br/>
            <a:r>
              <a:t>─────────</a:t>
            </a:r>
            <a:br/>
            <a:r>
              <a:t>API Keys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394960"/>
            <a:ext cx="11430000" cy="914400"/>
          </a:xfrm>
          <a:prstGeom prst="rect">
            <a:avLst/>
          </a:prstGeom>
          <a:solidFill>
            <a:srgbClr val="F48F89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532120"/>
            <a:ext cx="2286000" cy="64008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🔐 security.py</a:t>
            </a:r>
            <a:br/>
            <a:r>
              <a:t>Validation | Sanitization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5532120"/>
            <a:ext cx="2286000" cy="64008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🔒 XSS Protection</a:t>
            </a:r>
            <a:br/>
            <a:r>
              <a:t>escape_html()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5532120"/>
            <a:ext cx="2286000" cy="64008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📁 File Validation</a:t>
            </a:r>
            <a:br/>
            <a:r>
              <a:t>MIME | Size | Hash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5532120"/>
            <a:ext cx="1828800" cy="64008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🔑 Auth Admin</a:t>
            </a:r>
            <a:br/>
            <a:r>
              <a:t>Password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5532120"/>
            <a:ext cx="1828800" cy="64008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📜 Audit Trail</a:t>
            </a:r>
            <a:br/>
            <a:r>
              <a:t>Traçabilité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Flux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Pipeline de traitement 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109728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📥 INPUT</a:t>
            </a:r>
            <a:br/>
            <a:r>
              <a:t>─────</a:t>
            </a:r>
            <a:br/>
            <a:r>
              <a:t>CSV / Excel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1645920" cy="109728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🔒 VALIDATION</a:t>
            </a:r>
            <a:br/>
            <a:r>
              <a:t>─────</a:t>
            </a:r>
            <a:br/>
            <a:r>
              <a:t>Taille</a:t>
            </a:r>
            <a:br/>
            <a:r>
              <a:t>MIME</a:t>
            </a:r>
            <a:br/>
            <a:r>
              <a:t>Hash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1645920" cy="109728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🔍 ANALYSE</a:t>
            </a:r>
            <a:br/>
            <a:r>
              <a:t>─────</a:t>
            </a:r>
            <a:br/>
            <a:r>
              <a:t>Stats</a:t>
            </a:r>
            <a:br/>
            <a:r>
              <a:t>Profiling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71600"/>
            <a:ext cx="1645920" cy="109728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⚠️ DÉTECTION</a:t>
            </a:r>
            <a:br/>
            <a:r>
              <a:t>─────</a:t>
            </a:r>
            <a:br/>
            <a:r>
              <a:t>60+ règles</a:t>
            </a:r>
            <a:br/>
            <a:r>
              <a:t>Anomalies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371600"/>
            <a:ext cx="1645920" cy="109728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🎯 VECTEURS</a:t>
            </a:r>
            <a:br/>
            <a:r>
              <a:t>─────</a:t>
            </a:r>
            <a:br/>
            <a:r>
              <a:t>P_DB P_DP</a:t>
            </a:r>
            <a:br/>
            <a:r>
              <a:t>P_BR P_UP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1645920" cy="109728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 SCORING</a:t>
            </a:r>
            <a:br/>
            <a:r>
              <a:t>─────</a:t>
            </a:r>
            <a:br/>
            <a:r>
              <a:t>Pondération</a:t>
            </a:r>
            <a:br/>
            <a:r>
              <a:t>AHP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200400"/>
            <a:ext cx="1645920" cy="109728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🤖 IA</a:t>
            </a:r>
            <a:br/>
            <a:r>
              <a:t>─────</a:t>
            </a:r>
            <a:br/>
            <a:r>
              <a:t>Claude API</a:t>
            </a:r>
            <a:br/>
            <a:r>
              <a:t>Rapports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200400"/>
            <a:ext cx="1645920" cy="109728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📤 OUTPUT</a:t>
            </a:r>
            <a:br/>
            <a:r>
              <a:t>─────</a:t>
            </a:r>
            <a:br/>
            <a:r>
              <a:t>Dashboard</a:t>
            </a:r>
            <a:br/>
            <a:r>
              <a:t>Exports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03120" y="1783080"/>
            <a:ext cx="365760" cy="2743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206240" y="1783080"/>
            <a:ext cx="365760" cy="2743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6309360" y="1783080"/>
            <a:ext cx="365760" cy="2743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412480" y="1783080"/>
            <a:ext cx="365760" cy="2743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509760" y="2560320"/>
            <a:ext cx="274320" cy="457200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869680" y="3566160"/>
            <a:ext cx="6309360" cy="274320"/>
          </a:xfrm>
          <a:prstGeom prst="lef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2103120" y="3611880"/>
            <a:ext cx="365760" cy="2743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206240" y="3611880"/>
            <a:ext cx="365760" cy="2743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solidFill>
            <a:srgbClr val="FFEBEB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4846320"/>
            <a:ext cx="2743200" cy="54864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📜 AUDIT TRAIL - Traçabilité complète de chaque étape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Modèle Probabiliste 4D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Vecteur de risque multi-dimensionnel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286000" cy="18288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P_DB</a:t>
            </a:r>
            <a:br/>
            <a:r>
              <a:t>━━━━━━━</a:t>
            </a:r>
            <a:br/>
            <a:r>
              <a:t>📦 Database</a:t>
            </a:r>
            <a:br/>
            <a:r>
              <a:t>Structure</a:t>
            </a:r>
            <a:br/>
            <a:r>
              <a:t>─────</a:t>
            </a:r>
            <a:br/>
            <a:r>
              <a:t>• Nulls</a:t>
            </a:r>
            <a:br/>
            <a:r>
              <a:t>• Types</a:t>
            </a:r>
            <a:br/>
            <a:r>
              <a:t>• Clés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2286000" cy="182880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P_DP</a:t>
            </a:r>
            <a:br/>
            <a:r>
              <a:t>━━━━━━━</a:t>
            </a:r>
            <a:br/>
            <a:r>
              <a:t>⚙️ Data</a:t>
            </a:r>
            <a:br/>
            <a:r>
              <a:t>Processing</a:t>
            </a:r>
            <a:br/>
            <a:r>
              <a:t>─────</a:t>
            </a:r>
            <a:br/>
            <a:r>
              <a:t>• Formats</a:t>
            </a:r>
            <a:br/>
            <a:r>
              <a:t>• Conversions</a:t>
            </a:r>
            <a:br/>
            <a:r>
              <a:t>• Outliers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2286000" cy="18288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P_BR</a:t>
            </a:r>
            <a:br/>
            <a:r>
              <a:t>━━━━━━━</a:t>
            </a:r>
            <a:br/>
            <a:r>
              <a:t>📋 Business</a:t>
            </a:r>
            <a:br/>
            <a:r>
              <a:t>Rules</a:t>
            </a:r>
            <a:br/>
            <a:r>
              <a:t>─────</a:t>
            </a:r>
            <a:br/>
            <a:r>
              <a:t>• Patterns</a:t>
            </a:r>
            <a:br/>
            <a:r>
              <a:t>• Plages</a:t>
            </a:r>
            <a:br/>
            <a:r>
              <a:t>• Logique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371600"/>
            <a:ext cx="2286000" cy="18288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P_UP</a:t>
            </a:r>
            <a:br/>
            <a:r>
              <a:t>━━━━━━━</a:t>
            </a:r>
            <a:br/>
            <a:r>
              <a:t>🎯 Usage-fit</a:t>
            </a:r>
            <a:br/>
            <a:r>
              <a:t>Purpose</a:t>
            </a:r>
            <a:br/>
            <a:r>
              <a:t>─────</a:t>
            </a:r>
            <a:br/>
            <a:r>
              <a:t>• Contexte</a:t>
            </a:r>
            <a:br/>
            <a:r>
              <a:t>• Criticité</a:t>
            </a:r>
            <a:br/>
            <a:r>
              <a:t>• Adéquation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2057400" y="3291840"/>
            <a:ext cx="228600" cy="365760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4800600" y="3291840"/>
            <a:ext cx="228600" cy="365760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7543800" y="3291840"/>
            <a:ext cx="228600" cy="365760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0287000" y="3291840"/>
            <a:ext cx="228600" cy="365760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39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Score = Σ (wᵢ × Pᵢ) × multiplicateur_profil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029200"/>
            <a:ext cx="2743200" cy="109728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🛡️ PRUDENT</a:t>
            </a:r>
            <a:br/>
            <a:r>
              <a:t>×1.3</a:t>
            </a:r>
            <a:br/>
            <a:r>
              <a:t>Amplifie les risques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029200"/>
            <a:ext cx="2743200" cy="109728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⚖️ ÉQUILIBRÉ</a:t>
            </a:r>
            <a:br/>
            <a:r>
              <a:t>×1.0</a:t>
            </a:r>
            <a:br/>
            <a:r>
              <a:t>Neutre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029200"/>
            <a:ext cx="2743200" cy="109728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🚀 AUDACIEUX</a:t>
            </a:r>
            <a:br/>
            <a:r>
              <a:t>×0.7</a:t>
            </a:r>
            <a:br/>
            <a:r>
              <a:t>Atténue les risques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Mapping DAMA ↔ Probabiliste 4D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Correspondance des dimensions qualité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28600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📐 DAMA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286000" cy="64008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Complétude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286000" cy="64008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Unicité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286000" cy="64008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Validité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286000" cy="64008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Cohérence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2286000" cy="64008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Fraîcheur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2286000" cy="64008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Exactitude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2148840"/>
            <a:ext cx="731520" cy="22860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3108960" y="2148840"/>
            <a:ext cx="731520" cy="22860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108960" y="3611880"/>
            <a:ext cx="731520" cy="22860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108960" y="3611880"/>
            <a:ext cx="731520" cy="22860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108960" y="5074920"/>
            <a:ext cx="731520" cy="22860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3108960" y="5806440"/>
            <a:ext cx="731520" cy="22860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0" y="1188720"/>
            <a:ext cx="228600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4D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1920240"/>
            <a:ext cx="2286000" cy="13716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P_DB</a:t>
            </a:r>
            <a:br/>
            <a:r>
              <a:t>📦 Structure</a:t>
            </a:r>
            <a:br/>
            <a:r>
              <a:t>Base de données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383280"/>
            <a:ext cx="2286000" cy="13716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P_BR</a:t>
            </a:r>
            <a:br/>
            <a:r>
              <a:t>📋 Règles Métier</a:t>
            </a:r>
            <a:br/>
            <a:r>
              <a:t>Business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846320"/>
            <a:ext cx="2286000" cy="64008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P_DP</a:t>
            </a:r>
            <a:br/>
            <a:r>
              <a:t>⚙️ Traitements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5577840"/>
            <a:ext cx="2286000" cy="64008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P_UP</a:t>
            </a:r>
            <a:br/>
            <a:r>
              <a:t>🎯 Usage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371600"/>
            <a:ext cx="4114800" cy="18288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✅ Avantages 4D</a:t>
            </a:r>
            <a:br/>
            <a:r>
              <a:t>━━━━━━━━━━━━━━</a:t>
            </a:r>
            <a:br/>
            <a:r>
              <a:t>• Pondération contextuelle</a:t>
            </a:r>
            <a:br/>
            <a:r>
              <a:t>• Adapté par usage</a:t>
            </a:r>
            <a:br/>
            <a:r>
              <a:t>• Profils de risque</a:t>
            </a:r>
            <a:br/>
            <a:r>
              <a:t>• Multi-dimensionnel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657600"/>
            <a:ext cx="4114800" cy="22860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Usages supportés</a:t>
            </a:r>
            <a:br/>
            <a:r>
              <a:t>━━━━━━━━━━━━━━</a:t>
            </a:r>
            <a:br/>
            <a:r>
              <a:t>• Paie / Réglementaire</a:t>
            </a:r>
            <a:br/>
            <a:r>
              <a:t>• Reporting Social</a:t>
            </a:r>
            <a:br/>
            <a:r>
              <a:t>• Dashboard Opérationnel</a:t>
            </a:r>
            <a:br/>
            <a:r>
              <a:t>• Analyse RH</a:t>
            </a:r>
            <a:br/>
            <a:r>
              <a:t>• Custom...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Architecture de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Infrastructure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828800" cy="13716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👤 Utilisateur</a:t>
            </a:r>
            <a:br/>
            <a:r>
              <a:t>─────────</a:t>
            </a:r>
            <a:br/>
            <a:r>
              <a:t>Navigateur Web</a:t>
            </a:r>
            <a:br/>
            <a:r>
              <a:t>HTTPS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2834640"/>
            <a:ext cx="731520" cy="2743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1188720"/>
            <a:ext cx="5029200" cy="4572000"/>
          </a:xfrm>
          <a:prstGeom prst="rect">
            <a:avLst/>
          </a:prstGeom>
          <a:solidFill>
            <a:srgbClr val="F0F0FA"/>
          </a:solidFill>
          <a:ln w="2540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280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F6368"/>
                </a:solidFill>
              </a:defRPr>
            </a:pPr>
            <a:r>
              <a:t>☁️ STREAMLIT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103120" cy="914400"/>
          </a:xfrm>
          <a:prstGeom prst="round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Load Balancer</a:t>
            </a:r>
            <a:br/>
            <a:r>
              <a:t>─────────</a:t>
            </a:r>
            <a:br/>
            <a:r>
              <a:t>SSL/HTTPS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103120" cy="914400"/>
          </a:xfrm>
          <a:prstGeom prst="round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Container</a:t>
            </a:r>
            <a:br/>
            <a:r>
              <a:t>─────────</a:t>
            </a:r>
            <a:br/>
            <a:r>
              <a:t>Python 3.11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017520"/>
            <a:ext cx="2103120" cy="118872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app.py</a:t>
            </a:r>
            <a:br/>
            <a:r>
              <a:t>─────────</a:t>
            </a:r>
            <a:br/>
            <a:r>
              <a:t>Streamlit Server</a:t>
            </a:r>
            <a:br/>
            <a:r>
              <a:t>12 onglets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2103120" cy="118872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backend/</a:t>
            </a:r>
            <a:br/>
            <a:r>
              <a:t>─────────</a:t>
            </a:r>
            <a:br/>
            <a:r>
              <a:t>Engine</a:t>
            </a:r>
            <a:br/>
            <a:r>
              <a:t>Security</a:t>
            </a:r>
            <a:br/>
            <a:r>
              <a:t>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480560"/>
            <a:ext cx="2103120" cy="9144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Session State</a:t>
            </a:r>
            <a:br/>
            <a:r>
              <a:t>─────────</a:t>
            </a:r>
            <a:br/>
            <a:r>
              <a:t>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80560"/>
            <a:ext cx="2103120" cy="91440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Secrets</a:t>
            </a:r>
            <a:br/>
            <a:r>
              <a:t>─────────</a:t>
            </a:r>
            <a:br/>
            <a:r>
              <a:t>API Keys 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828800"/>
            <a:ext cx="2103120" cy="109728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🤖 Anthropic</a:t>
            </a:r>
            <a:br/>
            <a:r>
              <a:t>─────────</a:t>
            </a:r>
            <a:br/>
            <a:r>
              <a:t>Claude API</a:t>
            </a:r>
            <a:br/>
            <a:r>
              <a:t>Sonnet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3474720"/>
            <a:ext cx="2103120" cy="1097280"/>
          </a:xfrm>
          <a:prstGeom prst="round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📦 GitHub</a:t>
            </a:r>
            <a:br/>
            <a:r>
              <a:t>─────────</a:t>
            </a:r>
            <a:br/>
            <a:r>
              <a:t>Code Source</a:t>
            </a:r>
            <a:br/>
            <a:r>
              <a:t>CI/CD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95360" y="2194560"/>
            <a:ext cx="822960" cy="22860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595360" y="3840480"/>
            <a:ext cx="822960" cy="228600"/>
          </a:xfrm>
          <a:prstGeom prst="lef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Technologies utilisées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828800" cy="4572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828800" cy="548640"/>
          </a:xfrm>
          <a:prstGeom prst="roundRect">
            <a:avLst/>
          </a:prstGeom>
          <a:solidFill>
            <a:srgbClr val="82B1FF"/>
          </a:solidFill>
          <a:ln>
            <a:solidFill>
              <a:srgbClr val="82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Streamlit</a:t>
            </a:r>
            <a:br/>
            <a:r>
              <a:t>1.53.1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828800" cy="548640"/>
          </a:xfrm>
          <a:prstGeom prst="roundRect">
            <a:avLst/>
          </a:prstGeom>
          <a:solidFill>
            <a:srgbClr val="82B1FF"/>
          </a:solidFill>
          <a:ln>
            <a:solidFill>
              <a:srgbClr val="82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Plotly</a:t>
            </a:r>
            <a:br/>
            <a:r>
              <a:t>6.5.2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45720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737360"/>
            <a:ext cx="1828800" cy="548640"/>
          </a:xfrm>
          <a:prstGeom prst="roundRect">
            <a:avLst/>
          </a:prstGeom>
          <a:solidFill>
            <a:srgbClr val="BB8FCE"/>
          </a:solidFill>
          <a:ln>
            <a:solidFill>
              <a:srgbClr val="BB8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Pandas</a:t>
            </a:r>
            <a:br/>
            <a:r>
              <a:t>2.3.3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377440"/>
            <a:ext cx="1828800" cy="548640"/>
          </a:xfrm>
          <a:prstGeom prst="roundRect">
            <a:avLst/>
          </a:prstGeom>
          <a:solidFill>
            <a:srgbClr val="BB8FCE"/>
          </a:solidFill>
          <a:ln>
            <a:solidFill>
              <a:srgbClr val="BB8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NumPy</a:t>
            </a:r>
            <a:br/>
            <a:r>
              <a:t>2.4.1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017520"/>
            <a:ext cx="1828800" cy="548640"/>
          </a:xfrm>
          <a:prstGeom prst="roundRect">
            <a:avLst/>
          </a:prstGeom>
          <a:solidFill>
            <a:srgbClr val="BB8FCE"/>
          </a:solidFill>
          <a:ln>
            <a:solidFill>
              <a:srgbClr val="BB8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SciPy</a:t>
            </a:r>
            <a:br/>
            <a:r>
              <a:t>1.17.0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188720"/>
            <a:ext cx="1828800" cy="45720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1828800" cy="548640"/>
          </a:xfrm>
          <a:prstGeom prst="roundRect">
            <a:avLst/>
          </a:prstGeom>
          <a:solidFill>
            <a:srgbClr val="FFD666"/>
          </a:solidFill>
          <a:ln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OpenPyXL</a:t>
            </a:r>
            <a:br/>
            <a:r>
              <a:t>3.1.5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377440"/>
            <a:ext cx="1828800" cy="548640"/>
          </a:xfrm>
          <a:prstGeom prst="roundRect">
            <a:avLst/>
          </a:prstGeom>
          <a:solidFill>
            <a:srgbClr val="FFD666"/>
          </a:solidFill>
          <a:ln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ReportLab</a:t>
            </a:r>
            <a:br/>
            <a:r>
              <a:t>4.4.9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188720"/>
            <a:ext cx="1828800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737360"/>
            <a:ext cx="1828800" cy="548640"/>
          </a:xfrm>
          <a:prstGeom prst="roundRect">
            <a:avLst/>
          </a:prstGeom>
          <a:solidFill>
            <a:srgbClr val="646EB4"/>
          </a:solidFill>
          <a:ln>
            <a:solidFill>
              <a:srgbClr val="64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Anthropic</a:t>
            </a:r>
            <a:br/>
            <a:r>
              <a:t>0.76.0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377440"/>
            <a:ext cx="1828800" cy="548640"/>
          </a:xfrm>
          <a:prstGeom prst="roundRect">
            <a:avLst/>
          </a:prstGeom>
          <a:solidFill>
            <a:srgbClr val="646EB4"/>
          </a:solidFill>
          <a:ln>
            <a:solidFill>
              <a:srgbClr val="64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Claude</a:t>
            </a:r>
            <a:br/>
            <a:r>
              <a:t>Sonnet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188720"/>
            <a:ext cx="1828800" cy="457200"/>
          </a:xfrm>
          <a:prstGeom prst="round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INFRA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737360"/>
            <a:ext cx="1828800" cy="548640"/>
          </a:xfrm>
          <a:prstGeom prst="roundRect">
            <a:avLst/>
          </a:prstGeom>
          <a:solidFill>
            <a:srgbClr val="9AA0A6"/>
          </a:solidFill>
          <a:ln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Streamlit</a:t>
            </a:r>
            <a:br/>
            <a:r>
              <a:t>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377440"/>
            <a:ext cx="1828800" cy="548640"/>
          </a:xfrm>
          <a:prstGeom prst="roundRect">
            <a:avLst/>
          </a:prstGeom>
          <a:solidFill>
            <a:srgbClr val="9AA0A6"/>
          </a:solidFill>
          <a:ln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5303520" cy="22860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</a:defRPr>
            </a:pPr>
            <a:r>
              <a:t>🏗️ Principes Architecturaux</a:t>
            </a:r>
            <a:br/>
            <a:r>
              <a:t>━━━━━━━━━━━━━━━━━━━━━━━━</a:t>
            </a:r>
            <a:br/>
            <a:br/>
            <a:r>
              <a:t>• Séparation des responsabilités (SoC)</a:t>
            </a:r>
            <a:br/>
            <a:r>
              <a:t>• Couches indépendantes</a:t>
            </a:r>
            <a:br/>
            <a:r>
              <a:t>• Sécurité by design</a:t>
            </a:r>
            <a:br/>
            <a:r>
              <a:t>• Clean Architecture</a:t>
            </a:r>
            <a:br/>
            <a:r>
              <a:t>• Extensibilité (catalogs, profils)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303520" cy="2286000"/>
          </a:xfrm>
          <a:prstGeom prst="roundRect">
            <a:avLst/>
          </a:prstGeom>
          <a:solidFill>
            <a:srgbClr val="F0FAF5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</a:defRPr>
            </a:pPr>
            <a:r>
              <a:t>📊 Métriques</a:t>
            </a:r>
            <a:br/>
            <a:r>
              <a:t>━━━━━━━━━━━━━━━━━━━━━━━━</a:t>
            </a:r>
            <a:br/>
            <a:br/>
            <a:r>
              <a:t>• 60+ règles d'anomalies</a:t>
            </a:r>
            <a:br/>
            <a:r>
              <a:t>• 12 onglets fonctionnels</a:t>
            </a:r>
            <a:br/>
            <a:r>
              <a:t>• 4 dimensions probabilistes</a:t>
            </a:r>
            <a:br/>
            <a:r>
              <a:t>• 6 dimensions DAMA mappées</a:t>
            </a:r>
            <a:br/>
            <a:r>
              <a:t>• 100% traçabilité (Audit Trail)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